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97" autoAdjust="0"/>
    <p:restoredTop sz="94660"/>
  </p:normalViewPr>
  <p:slideViewPr>
    <p:cSldViewPr snapToGrid="0">
      <p:cViewPr varScale="1">
        <p:scale>
          <a:sx n="86" d="100"/>
          <a:sy n="86" d="100"/>
        </p:scale>
        <p:origin x="351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07533" y="0"/>
            <a:ext cx="7934348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8941881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11808" y="3428998"/>
            <a:ext cx="5518066" cy="2268559"/>
          </a:xfrm>
        </p:spPr>
        <p:txBody>
          <a:bodyPr anchor="t">
            <a:normAutofit/>
          </a:bodyPr>
          <a:lstStyle>
            <a:lvl1pPr algn="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72274" y="2268786"/>
            <a:ext cx="5357600" cy="1160213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Ins="45720"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191282" y="3262852"/>
            <a:ext cx="415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24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98077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2194943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8352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5" name="Rectangle 2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TextBox 10"/>
          <p:cNvSpPr txBox="1"/>
          <p:nvPr/>
        </p:nvSpPr>
        <p:spPr>
          <a:xfrm>
            <a:off x="2191843" y="296258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3147254"/>
            <a:ext cx="7956560" cy="1424746"/>
          </a:xfrm>
        </p:spPr>
        <p:txBody>
          <a:bodyPr anchor="t">
            <a:normAutofit/>
          </a:bodyPr>
          <a:lstStyle>
            <a:lvl1pPr algn="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968" y="2268786"/>
            <a:ext cx="7791931" cy="878468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9791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7" name="Rectangle 26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7"/>
            <a:ext cx="7950984" cy="10817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05374" y="2052116"/>
            <a:ext cx="3891960" cy="3997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66636" y="2052114"/>
            <a:ext cx="3894222" cy="39978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2196172" y="641223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33041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" name="Rectangle 20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2193650" y="636424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8"/>
            <a:ext cx="7956560" cy="107834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9285" y="2052115"/>
            <a:ext cx="3896467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09285" y="2851331"/>
            <a:ext cx="3893623" cy="30714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66634" y="2052115"/>
            <a:ext cx="3899798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66635" y="2851331"/>
            <a:ext cx="3899798" cy="30714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1/26/2026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038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" name="Rectangle 13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1/26/2026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196172" y="64122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2134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1/26/2026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661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6" name="Rectangle 2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1554154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0323" y="1282451"/>
            <a:ext cx="2664361" cy="1903241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0154" y="805818"/>
            <a:ext cx="5446278" cy="52441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6154"/>
            <a:ext cx="2664361" cy="2386397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4204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" name="Rectangle 19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47062" y="3229"/>
            <a:ext cx="4629734" cy="6858000"/>
          </a:xfr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1554686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1241" y="1282452"/>
            <a:ext cx="3970986" cy="1900473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2928"/>
            <a:ext cx="3971874" cy="2386394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9339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2194236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4091" cy="107722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497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" name="Rectangle 1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 rot="5400000">
            <a:off x="10337141" y="416061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39380" y="805818"/>
            <a:ext cx="1326519" cy="5244126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608751" y="970410"/>
            <a:ext cx="6466903" cy="50795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344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8331" cy="10772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599" y="2052116"/>
            <a:ext cx="7796540" cy="3997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-810065" y="5270604"/>
            <a:ext cx="2662729" cy="182880"/>
          </a:xfrm>
          <a:prstGeom prst="rect">
            <a:avLst/>
          </a:prstGeom>
        </p:spPr>
        <p:txBody>
          <a:bodyPr vert="horz" lIns="91440" tIns="18288" rIns="91440" bIns="45720" rtlCol="0" anchor="t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7DA38F49-B3E2-4BF0-BEC7-C30D34ABBB8D}" type="datetime1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-2237130" y="3661144"/>
            <a:ext cx="5885352" cy="179176"/>
          </a:xfrm>
          <a:prstGeom prst="rect">
            <a:avLst/>
          </a:prstGeom>
        </p:spPr>
        <p:txBody>
          <a:bodyPr vert="horz" lIns="91440" tIns="45720" rIns="91440" bIns="18288" rtlCol="0" anchor="b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8407" y="164592"/>
            <a:ext cx="636727" cy="322851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11264983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</p:sldLayoutIdLst>
  <p:hf sldNum="0"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3400" b="0" i="0" kern="1200" cap="none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344488" indent="-344488" algn="l" defTabSz="914400" rtl="0" eaLnBrk="1" latinLnBrk="0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953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588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7097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1732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92806DFD-E192-42CC-B190-3C4C95B8FF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9867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58A0B6A-DEC0-46AC-8D12-B6E45FCD1E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33" y="0"/>
            <a:ext cx="12189867" cy="6858001"/>
          </a:xfrm>
          <a:prstGeom prst="rect">
            <a:avLst/>
          </a:prstGeom>
          <a:solidFill>
            <a:schemeClr val="tx2">
              <a:alpha val="1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8C1A506D-EB69-4549-9782-F0EBB2A9AE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238F13B-3E70-F1E4-947B-B011E54872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41744" y="1437783"/>
            <a:ext cx="7908513" cy="2495051"/>
          </a:xfrm>
        </p:spPr>
        <p:txBody>
          <a:bodyPr anchor="b">
            <a:noAutofit/>
          </a:bodyPr>
          <a:lstStyle/>
          <a:p>
            <a:pPr algn="ctr"/>
            <a:r>
              <a:rPr lang="en-GB" sz="4400" dirty="0"/>
              <a:t>Combining Artificial Intelligence and Cybersecurity to create a smart way to combat phishing threats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0C5552-EE40-9ADC-20D5-7953BFF8DE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16133" y="4260004"/>
            <a:ext cx="5357600" cy="1160213"/>
          </a:xfrm>
        </p:spPr>
        <p:txBody>
          <a:bodyPr anchor="t">
            <a:normAutofit/>
          </a:bodyPr>
          <a:lstStyle/>
          <a:p>
            <a:pPr algn="ctr"/>
            <a:r>
              <a:rPr lang="en-GB" sz="2800" dirty="0"/>
              <a:t>Meraj Hoque</a:t>
            </a:r>
          </a:p>
        </p:txBody>
      </p:sp>
    </p:spTree>
    <p:extLst>
      <p:ext uri="{BB962C8B-B14F-4D97-AF65-F5344CB8AC3E}">
        <p14:creationId xmlns:p14="http://schemas.microsoft.com/office/powerpoint/2010/main" val="9451336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8D8B8BFF-ABC6-4302-9767-D2ADEE381F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D5F431FD-989C-4F7B-9EF1-BDED51AED4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BB17FFD2-DBC7-4ABB-B2A0-7E18EC1B80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AFFF3F7-4395-4F19-BC12-8940796BE3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2806DFD-E192-42CC-B190-3C4C95B8FF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85906" y="0"/>
            <a:ext cx="10906093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FCA724-D3FE-B101-7A66-41991F59C5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0081" y="808056"/>
            <a:ext cx="8006760" cy="1518934"/>
          </a:xfrm>
        </p:spPr>
        <p:txBody>
          <a:bodyPr anchor="t">
            <a:normAutofit/>
          </a:bodyPr>
          <a:lstStyle/>
          <a:p>
            <a:pPr algn="l"/>
            <a:r>
              <a:rPr lang="en-GB" sz="5000" dirty="0">
                <a:solidFill>
                  <a:schemeClr val="tx2"/>
                </a:solidFill>
              </a:rPr>
              <a:t>Aim of the Project</a:t>
            </a:r>
          </a:p>
        </p:txBody>
      </p:sp>
      <p:sp>
        <p:nvSpPr>
          <p:cNvPr id="18" name="Right Triangle 17">
            <a:extLst>
              <a:ext uri="{FF2B5EF4-FFF2-40B4-BE49-F238E27FC236}">
                <a16:creationId xmlns:a16="http://schemas.microsoft.com/office/drawing/2014/main" id="{0BFD2628-8E1E-4A9C-8CC0-A043326831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1809734" y="808056"/>
            <a:ext cx="239869" cy="239869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BD9FE308-0670-51B7-A639-78985AF632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50080" y="1809992"/>
            <a:ext cx="8006760" cy="1033995"/>
          </a:xfrm>
        </p:spPr>
        <p:txBody>
          <a:bodyPr anchor="ctr">
            <a:normAutofit/>
          </a:bodyPr>
          <a:lstStyle/>
          <a:p>
            <a:r>
              <a:rPr lang="en-GB" dirty="0">
                <a:solidFill>
                  <a:schemeClr val="tx2"/>
                </a:solidFill>
              </a:rPr>
              <a:t>Insert URL’s of legitimate and phishing natures to see if the AI model is trained enough to provide correct and effective feedback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0DAE048-BF8A-4A95-8DBC-D3A926B94C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871960" y="0"/>
            <a:ext cx="32004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3088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63294-657B-9D39-7849-536B506961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1809" y="808056"/>
            <a:ext cx="3775740" cy="1077229"/>
          </a:xfrm>
        </p:spPr>
        <p:txBody>
          <a:bodyPr/>
          <a:lstStyle/>
          <a:p>
            <a:r>
              <a:rPr lang="en-GB" dirty="0"/>
              <a:t>Problems to Solve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26A127-901E-5DBA-6641-8A1B9DAC0C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Businesses and charities are always under constant threats from phishing and succumbing to their deception</a:t>
            </a:r>
          </a:p>
          <a:p>
            <a:r>
              <a:rPr lang="en-GB" dirty="0"/>
              <a:t>Everyday users are also susceptible to being deceived maybe due to a lack of knowledge of the threat and how to avoid it</a:t>
            </a:r>
          </a:p>
        </p:txBody>
      </p:sp>
    </p:spTree>
    <p:extLst>
      <p:ext uri="{BB962C8B-B14F-4D97-AF65-F5344CB8AC3E}">
        <p14:creationId xmlns:p14="http://schemas.microsoft.com/office/powerpoint/2010/main" val="39935639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B24D0-9C15-3FFC-8F71-7AFEA984E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1808" y="808056"/>
            <a:ext cx="2198731" cy="1077229"/>
          </a:xfrm>
        </p:spPr>
        <p:txBody>
          <a:bodyPr/>
          <a:lstStyle/>
          <a:p>
            <a:r>
              <a:rPr lang="en-GB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B91CD-21FC-BDF6-5BC0-50BB4FB5DD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2137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88792-C78D-170B-2915-FBB69E491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1808" y="808056"/>
            <a:ext cx="5544905" cy="1077229"/>
          </a:xfrm>
        </p:spPr>
        <p:txBody>
          <a:bodyPr/>
          <a:lstStyle/>
          <a:p>
            <a:r>
              <a:rPr lang="en-GB" dirty="0"/>
              <a:t>Approach and Organisation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F9499-B8AE-9307-0943-42D9627AE2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20982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9821E-09A4-BA7C-6236-2EA0A010F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1809" y="808056"/>
            <a:ext cx="1536122" cy="1077229"/>
          </a:xfrm>
        </p:spPr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1670EA-34EE-C049-B80F-355B897F39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97963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2E630-CCA6-6F6D-0EE0-9FFB35E1B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1808" y="808056"/>
            <a:ext cx="4014279" cy="1077229"/>
          </a:xfrm>
        </p:spPr>
        <p:txBody>
          <a:bodyPr/>
          <a:lstStyle/>
          <a:p>
            <a:r>
              <a:rPr lang="en-GB" dirty="0"/>
              <a:t>Design of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B0A109-1898-6B13-242A-C35CCB851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3527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1A2B6-6A31-D2F6-94D9-A0D190F39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Message Analysis Algorithm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A8C21-AFFD-171A-D1ED-4AD4953BF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65045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023AF-6E45-D2F5-5897-29C9247EC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1809" y="808056"/>
            <a:ext cx="3179392" cy="1077229"/>
          </a:xfrm>
        </p:spPr>
        <p:txBody>
          <a:bodyPr/>
          <a:lstStyle/>
          <a:p>
            <a:r>
              <a:rPr lang="en-GB" dirty="0"/>
              <a:t>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45F4B1-CD0B-64E0-E6EC-86B031B562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16564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4FBA2-9D5D-99FC-DF81-C8576F9F8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Videos of testing(Non technical report)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DA51B-529D-ADFD-2540-B0158C6330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53357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E5A75-80F4-1DE8-F757-C350CABDD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Videos of testing(Technical report)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D4E181-E0C5-8DEF-E917-9AA7A93D93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9672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B2D19-8C3D-CAE4-E0EC-DF418910A9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1809" y="808056"/>
            <a:ext cx="5058068" cy="1077229"/>
          </a:xfrm>
        </p:spPr>
        <p:txBody>
          <a:bodyPr/>
          <a:lstStyle/>
          <a:p>
            <a:r>
              <a:rPr lang="en-GB" dirty="0"/>
              <a:t>Things I Have Completed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668A11-8E78-A3C5-4499-DD461E81A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149129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69B51-1C71-9657-F6F2-C778D6F2F4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1808" y="808056"/>
            <a:ext cx="1566723" cy="1077229"/>
          </a:xfrm>
        </p:spPr>
        <p:txBody>
          <a:bodyPr/>
          <a:lstStyle/>
          <a:p>
            <a:r>
              <a:rPr lang="en-GB" dirty="0"/>
              <a:t>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5DD3D7-8555-AB94-8159-50F96D8E0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77309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A6045-5949-1D36-EF72-EF499F7C6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1808" y="808056"/>
            <a:ext cx="6183057" cy="1077229"/>
          </a:xfrm>
        </p:spPr>
        <p:txBody>
          <a:bodyPr/>
          <a:lstStyle/>
          <a:p>
            <a:r>
              <a:rPr lang="en-GB" dirty="0"/>
              <a:t>What I’m Currently Working 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A8993E-E25F-8924-30D9-8FAF062108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03321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CEE8C-9A04-4120-9BD7-88A6DD5B9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1808" y="808056"/>
            <a:ext cx="6138723" cy="1077229"/>
          </a:xfrm>
        </p:spPr>
        <p:txBody>
          <a:bodyPr/>
          <a:lstStyle/>
          <a:p>
            <a:r>
              <a:rPr lang="en-GB" dirty="0"/>
              <a:t>Things I’m Hoping To Work 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8CCC1-0C99-4580-D0A4-0E255A1301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67492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10D02-2FCC-6DB1-DBF7-68BD9815AD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1809" y="808056"/>
            <a:ext cx="2253908" cy="1077229"/>
          </a:xfrm>
        </p:spPr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B57DB0-13BF-EEB5-B196-8960FB19CC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828597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Madison">
      <a:dk1>
        <a:sysClr val="windowText" lastClr="000000"/>
      </a:dk1>
      <a:lt1>
        <a:sysClr val="window" lastClr="FFFFFF"/>
      </a:lt1>
      <a:dk2>
        <a:srgbClr val="1F2D29"/>
      </a:dk2>
      <a:lt2>
        <a:srgbClr val="C5FAEB"/>
      </a:lt2>
      <a:accent1>
        <a:srgbClr val="A1D68B"/>
      </a:accent1>
      <a:accent2>
        <a:srgbClr val="5EC795"/>
      </a:accent2>
      <a:accent3>
        <a:srgbClr val="4DADCF"/>
      </a:accent3>
      <a:accent4>
        <a:srgbClr val="CDB756"/>
      </a:accent4>
      <a:accent5>
        <a:srgbClr val="E29C36"/>
      </a:accent5>
      <a:accent6>
        <a:srgbClr val="8EC0C1"/>
      </a:accent6>
      <a:hlink>
        <a:srgbClr val="6D9D9B"/>
      </a:hlink>
      <a:folHlink>
        <a:srgbClr val="6D8583"/>
      </a:folHlink>
    </a:clrScheme>
    <a:fontScheme name="Madison">
      <a:maj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dison" id="{025CB5FB-2DD3-45EE-B6F0-CC461540EB19}" vid="{6AC10936-2DFC-4054-9ADF-B5E2C5F8619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TM16401375[[fn=Madison]]</Template>
  <TotalTime>14</TotalTime>
  <Words>127</Words>
  <Application>Microsoft Office PowerPoint</Application>
  <PresentationFormat>Widescreen</PresentationFormat>
  <Paragraphs>20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MS Shell Dlg 2</vt:lpstr>
      <vt:lpstr>Wingdings</vt:lpstr>
      <vt:lpstr>Wingdings 3</vt:lpstr>
      <vt:lpstr>Madison</vt:lpstr>
      <vt:lpstr>Combining Artificial Intelligence and Cybersecurity to create a smart way to combat phishing threats</vt:lpstr>
      <vt:lpstr>Aim of the Project</vt:lpstr>
      <vt:lpstr>Problems to Solve</vt:lpstr>
      <vt:lpstr>Objectives</vt:lpstr>
      <vt:lpstr>Approach and Organisation</vt:lpstr>
      <vt:lpstr>Design</vt:lpstr>
      <vt:lpstr>Design of Algorithm</vt:lpstr>
      <vt:lpstr>Message Analysis Algorithm </vt:lpstr>
      <vt:lpstr>Implementation</vt:lpstr>
      <vt:lpstr>Videos of testing(Non technical report)</vt:lpstr>
      <vt:lpstr>Videos of testing(Technical report)</vt:lpstr>
      <vt:lpstr>Things I Have Completed</vt:lpstr>
      <vt:lpstr>Testing</vt:lpstr>
      <vt:lpstr>What I’m Currently Working On</vt:lpstr>
      <vt:lpstr>Things I’m Hoping To Work On</vt:lpstr>
      <vt:lpstr>Evaluation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Meraj Hoque (Student)</dc:creator>
  <cp:lastModifiedBy>Meraj Hoque (Student)</cp:lastModifiedBy>
  <cp:revision>1</cp:revision>
  <dcterms:created xsi:type="dcterms:W3CDTF">2026-01-26T10:31:34Z</dcterms:created>
  <dcterms:modified xsi:type="dcterms:W3CDTF">2026-01-26T10:46:29Z</dcterms:modified>
</cp:coreProperties>
</file>