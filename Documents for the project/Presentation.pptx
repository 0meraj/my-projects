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5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3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7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30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3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1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6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2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3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649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9867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8A0B6A-DEC0-46AC-8D12-B6E45FCD1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3" y="0"/>
            <a:ext cx="12189867" cy="6858001"/>
          </a:xfrm>
          <a:prstGeom prst="rect">
            <a:avLst/>
          </a:pr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C1A506D-EB69-4549-9782-F0EBB2A9A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38F13B-3E70-F1E4-947B-B011E5487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744" y="1437783"/>
            <a:ext cx="7908513" cy="2495051"/>
          </a:xfrm>
        </p:spPr>
        <p:txBody>
          <a:bodyPr anchor="b">
            <a:noAutofit/>
          </a:bodyPr>
          <a:lstStyle/>
          <a:p>
            <a:pPr algn="ctr"/>
            <a:r>
              <a:rPr lang="en-GB" sz="4400" dirty="0"/>
              <a:t>Combining Artificial Intelligence and Cybersecurity to create a smart way to combat phishing threats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C5552-EE40-9ADC-20D5-7953BFF8D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6133" y="4260004"/>
            <a:ext cx="5357600" cy="1160213"/>
          </a:xfrm>
        </p:spPr>
        <p:txBody>
          <a:bodyPr anchor="t">
            <a:normAutofit/>
          </a:bodyPr>
          <a:lstStyle/>
          <a:p>
            <a:pPr algn="ctr"/>
            <a:r>
              <a:rPr lang="en-GB" sz="2800" dirty="0"/>
              <a:t>Meraj Hoque</a:t>
            </a:r>
          </a:p>
        </p:txBody>
      </p:sp>
    </p:spTree>
    <p:extLst>
      <p:ext uri="{BB962C8B-B14F-4D97-AF65-F5344CB8AC3E}">
        <p14:creationId xmlns:p14="http://schemas.microsoft.com/office/powerpoint/2010/main" val="94513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5906" y="0"/>
            <a:ext cx="1090609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CA724-D3FE-B101-7A66-41991F59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081" y="808056"/>
            <a:ext cx="8006760" cy="1518934"/>
          </a:xfrm>
        </p:spPr>
        <p:txBody>
          <a:bodyPr anchor="t">
            <a:normAutofit/>
          </a:bodyPr>
          <a:lstStyle/>
          <a:p>
            <a:pPr algn="l"/>
            <a:r>
              <a:rPr lang="en-GB" sz="5000" dirty="0">
                <a:solidFill>
                  <a:schemeClr val="tx2"/>
                </a:solidFill>
              </a:rPr>
              <a:t>Aim of the Project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09734" y="808056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D9FE308-0670-51B7-A639-78985AF6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080" y="1809992"/>
            <a:ext cx="8006760" cy="1033995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Insert URL’s of legitimate and phishing natures to see if an AI model is capable of providing correct and effective feedback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71960" y="0"/>
            <a:ext cx="3200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308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3294-657B-9D39-7849-536B5069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3775740" cy="1077229"/>
          </a:xfrm>
        </p:spPr>
        <p:txBody>
          <a:bodyPr/>
          <a:lstStyle/>
          <a:p>
            <a:r>
              <a:rPr lang="en-GB" dirty="0"/>
              <a:t>Problems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6A127-901E-5DBA-6641-8A1B9DAC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287456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Protecting businesses and charities from phishing and succumbing to its deception as they are the biggest targets of such a threat.</a:t>
            </a:r>
          </a:p>
          <a:p>
            <a:r>
              <a:rPr lang="en-GB" dirty="0"/>
              <a:t>Everyday users are also susceptible to being deceived maybe due to a lack of knowledge of the threat and how to avoid it.</a:t>
            </a:r>
          </a:p>
          <a:p>
            <a:r>
              <a:rPr lang="en-GB" dirty="0"/>
              <a:t>Introducing a smarter system that can keep up with </a:t>
            </a:r>
            <a:r>
              <a:rPr lang="en-US" dirty="0"/>
              <a:t> AI-driven, highly targeted, and multi-channel attacks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356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24D0-9C15-3FFC-8F71-7AFEA984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2198731" cy="1077229"/>
          </a:xfrm>
        </p:spPr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91CD-21FC-BDF6-5BC0-50BB4FB5D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Conduct research into existing phishing detection systems and see what gaps are in their systems that AI can fill</a:t>
            </a:r>
          </a:p>
          <a:p>
            <a:r>
              <a:rPr lang="en-GB" dirty="0"/>
              <a:t>Fully implement an AI model that correctly and quickly identifies URL’s that are a threat to users</a:t>
            </a:r>
          </a:p>
          <a:p>
            <a:r>
              <a:rPr lang="en-GB" dirty="0"/>
              <a:t>Display a user friendly report of the systems analysis to the user to allow them to better understand the components and trends in a phishing URL</a:t>
            </a:r>
          </a:p>
        </p:txBody>
      </p:sp>
    </p:spTree>
    <p:extLst>
      <p:ext uri="{BB962C8B-B14F-4D97-AF65-F5344CB8AC3E}">
        <p14:creationId xmlns:p14="http://schemas.microsoft.com/office/powerpoint/2010/main" val="314621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CB9B-EDBC-139F-FD67-B7E1668F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2226198" cy="1077229"/>
          </a:xfrm>
        </p:spPr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3D1-382A-7F9C-89DC-3FE4C2671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Develop a testing table to effectively test all the features of my system and ensure they work correctly</a:t>
            </a:r>
          </a:p>
          <a:p>
            <a:r>
              <a:rPr lang="en-GB" dirty="0"/>
              <a:t>Conduct participant testing to observe the effectiveness of the systems feedback</a:t>
            </a:r>
          </a:p>
          <a:p>
            <a:r>
              <a:rPr lang="en-GB" dirty="0"/>
              <a:t>Complete the dissertation</a:t>
            </a:r>
          </a:p>
        </p:txBody>
      </p:sp>
    </p:spTree>
    <p:extLst>
      <p:ext uri="{BB962C8B-B14F-4D97-AF65-F5344CB8AC3E}">
        <p14:creationId xmlns:p14="http://schemas.microsoft.com/office/powerpoint/2010/main" val="309415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8792-C78D-170B-2915-FBB69E49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5544905" cy="1077229"/>
          </a:xfrm>
        </p:spPr>
        <p:txBody>
          <a:bodyPr/>
          <a:lstStyle/>
          <a:p>
            <a:r>
              <a:rPr lang="en-GB" dirty="0"/>
              <a:t>Approach and Organisation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F9499-B8AE-9307-0943-42D9627AE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approached this project using a feature driven agile approach inspired by Feature-Driven Development. This encouraged me to clearly define and document the features I wanted to implement before writing code, which made the development process more structured and the implementation clearer.</a:t>
            </a:r>
          </a:p>
          <a:p>
            <a:r>
              <a:rPr lang="en-US" dirty="0"/>
              <a:t>Because organization was a key requirement of the project, working in a feature focused way helped me stay focused and progress systematically.</a:t>
            </a:r>
          </a:p>
          <a:p>
            <a:r>
              <a:rPr lang="en-US" dirty="0"/>
              <a:t>As the project was developed over most of the academic year, using a feature-driven methodology suited well with its long-term nature.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209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BF0B-62DD-94C2-9EF3-8337925A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5445996" cy="1077229"/>
          </a:xfrm>
        </p:spPr>
        <p:txBody>
          <a:bodyPr/>
          <a:lstStyle/>
          <a:p>
            <a:r>
              <a:rPr lang="en-GB" dirty="0"/>
              <a:t>Approach and Organisation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EE420-E4AD-BB6A-FF3F-3D2C0E97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made use of a new previous GitHub repository I made to store my code as it updated to ensure I have a backup in case anything went wrong.</a:t>
            </a:r>
          </a:p>
          <a:p>
            <a:r>
              <a:rPr lang="en-GB" dirty="0"/>
              <a:t>I also made use of Trello as a checklist of all the features I was currently implementing and to remind myself of the features I have already implemented.</a:t>
            </a:r>
          </a:p>
          <a:p>
            <a:r>
              <a:rPr lang="en-GB" dirty="0"/>
              <a:t>I used a Google Doc to keep track of how I would create my project from the kinds of software I would use to the features I would be interested in coding.</a:t>
            </a:r>
          </a:p>
        </p:txBody>
      </p:sp>
    </p:spTree>
    <p:extLst>
      <p:ext uri="{BB962C8B-B14F-4D97-AF65-F5344CB8AC3E}">
        <p14:creationId xmlns:p14="http://schemas.microsoft.com/office/powerpoint/2010/main" val="357306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E630-CCA6-6F6D-0EE0-9FFB35E1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4014279" cy="1077229"/>
          </a:xfrm>
        </p:spPr>
        <p:txBody>
          <a:bodyPr/>
          <a:lstStyle/>
          <a:p>
            <a:r>
              <a:rPr lang="en-GB" dirty="0"/>
              <a:t>Design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A109-1898-6B13-242A-C35CCB85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URL is inputted and multiple heuristic features combined with TF – IDF features are extracted from it, numerical values are returned and a feature vector is formed with them.</a:t>
            </a:r>
          </a:p>
          <a:p>
            <a:r>
              <a:rPr lang="en-GB" dirty="0"/>
              <a:t>A </a:t>
            </a:r>
            <a:r>
              <a:rPr lang="en-GB" dirty="0" err="1"/>
              <a:t>RandomForestClassifier</a:t>
            </a:r>
            <a:r>
              <a:rPr lang="en-GB" dirty="0"/>
              <a:t> model is used where 200 decision trees are established to use the feature vector to make a decision on whether the URL is phishing or legit.</a:t>
            </a:r>
          </a:p>
          <a:p>
            <a:r>
              <a:rPr lang="en-US" dirty="0"/>
              <a:t>This hybrid system combining heuristic feature extraction with a machine-learning classifier </a:t>
            </a:r>
            <a:r>
              <a:rPr lang="en-GB" dirty="0"/>
              <a:t>makes a final decision, the confidence of the AI’s assessment is calculated and is outputted along with the verdict.</a:t>
            </a:r>
          </a:p>
        </p:txBody>
      </p:sp>
    </p:spTree>
    <p:extLst>
      <p:ext uri="{BB962C8B-B14F-4D97-AF65-F5344CB8AC3E}">
        <p14:creationId xmlns:p14="http://schemas.microsoft.com/office/powerpoint/2010/main" val="122352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23AF-6E45-D2F5-5897-29C9247E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3179392" cy="1077229"/>
          </a:xfrm>
        </p:spPr>
        <p:txBody>
          <a:bodyPr/>
          <a:lstStyle/>
          <a:p>
            <a:r>
              <a:rPr lang="en-GB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F4B1-CD0B-64E0-E6EC-86B031B5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All of my code is being programmed in Python with the exception of a few HTML elements related to code for the web interface.</a:t>
            </a:r>
          </a:p>
          <a:p>
            <a:r>
              <a:rPr lang="en-GB" dirty="0"/>
              <a:t>I used Visual Studio Code as my coding environment and </a:t>
            </a:r>
            <a:r>
              <a:rPr lang="en-US" dirty="0"/>
              <a:t>Anaconda which allowed me to manage my Python environment and dependencies and most importantly reliably run machine-learning libraries like NumPy, Pandas, and scikit-learn without compatibility issues.</a:t>
            </a:r>
          </a:p>
          <a:p>
            <a:r>
              <a:rPr lang="en-US" dirty="0"/>
              <a:t>I also used Flask to build the web interface my project is being ran on.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656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FBA2-9D5D-99FC-DF81-C8576F9F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3290228" cy="1077229"/>
          </a:xfrm>
        </p:spPr>
        <p:txBody>
          <a:bodyPr/>
          <a:lstStyle/>
          <a:p>
            <a:r>
              <a:rPr lang="en-GB" dirty="0"/>
              <a:t>Video of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DA51B-529D-ADFD-2540-B0158C633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33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2D19-8C3D-CAE4-E0EC-DF418910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5058068" cy="1077229"/>
          </a:xfrm>
        </p:spPr>
        <p:txBody>
          <a:bodyPr/>
          <a:lstStyle/>
          <a:p>
            <a:r>
              <a:rPr lang="en-GB" dirty="0"/>
              <a:t>Things I Have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8A11-8E78-A3C5-4499-DD461E81A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Coded all the checks I want to perform on the URL</a:t>
            </a:r>
          </a:p>
          <a:p>
            <a:r>
              <a:rPr lang="en-GB" dirty="0"/>
              <a:t>Gave the AI model the ability to judge the results on the vector and make a decision</a:t>
            </a:r>
          </a:p>
          <a:p>
            <a:r>
              <a:rPr lang="en-GB" dirty="0"/>
              <a:t>Outputs the verdict made by the AI model alongside a confidence assessment</a:t>
            </a:r>
          </a:p>
          <a:p>
            <a:r>
              <a:rPr lang="en-GB" dirty="0"/>
              <a:t>Outputs a small paragraph explaining why the assessment was made</a:t>
            </a:r>
          </a:p>
        </p:txBody>
      </p:sp>
    </p:spTree>
    <p:extLst>
      <p:ext uri="{BB962C8B-B14F-4D97-AF65-F5344CB8AC3E}">
        <p14:creationId xmlns:p14="http://schemas.microsoft.com/office/powerpoint/2010/main" val="3914912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9B51-1C71-9657-F6F2-C778D6F2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1566723" cy="1077229"/>
          </a:xfrm>
        </p:spPr>
        <p:txBody>
          <a:bodyPr/>
          <a:lstStyle/>
          <a:p>
            <a:r>
              <a:rPr lang="en-GB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D3D7-8555-AB94-8159-50F96D8E0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Creating a test plan to effectively test all the key functions of my project and ensure they work as planned.</a:t>
            </a:r>
          </a:p>
          <a:p>
            <a:r>
              <a:rPr lang="en-GB" dirty="0"/>
              <a:t>I am going to conduct participant testing to see the effectiveness of the systems feedback and whether or not users are confident in the systems ability.</a:t>
            </a:r>
          </a:p>
          <a:p>
            <a:r>
              <a:rPr lang="en-GB" dirty="0"/>
              <a:t>I have done research into websites I can gather URLs to test the Ais ability in correctly judging the nature of the URLs being inputted.</a:t>
            </a:r>
          </a:p>
        </p:txBody>
      </p:sp>
    </p:spTree>
    <p:extLst>
      <p:ext uri="{BB962C8B-B14F-4D97-AF65-F5344CB8AC3E}">
        <p14:creationId xmlns:p14="http://schemas.microsoft.com/office/powerpoint/2010/main" val="2907730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6045-5949-1D36-EF72-EF499F7C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6183057" cy="1077229"/>
          </a:xfrm>
        </p:spPr>
        <p:txBody>
          <a:bodyPr/>
          <a:lstStyle/>
          <a:p>
            <a:r>
              <a:rPr lang="en-GB" dirty="0"/>
              <a:t>What I’m Currently Working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8993E-E25F-8924-30D9-8FAF06210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I’m currently researching about adding datasets containing roughly 50,000 URLs to replace my hardcoded phishing and legitimate URLs.</a:t>
            </a:r>
          </a:p>
          <a:p>
            <a:r>
              <a:rPr lang="en-GB" dirty="0"/>
              <a:t>Researching values to display on a report technical users can look at after analysis of the URL is complete.</a:t>
            </a:r>
          </a:p>
        </p:txBody>
      </p:sp>
    </p:spTree>
    <p:extLst>
      <p:ext uri="{BB962C8B-B14F-4D97-AF65-F5344CB8AC3E}">
        <p14:creationId xmlns:p14="http://schemas.microsoft.com/office/powerpoint/2010/main" val="233033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EE8C-9A04-4120-9BD7-88A6DD5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6138723" cy="1077229"/>
          </a:xfrm>
        </p:spPr>
        <p:txBody>
          <a:bodyPr/>
          <a:lstStyle/>
          <a:p>
            <a:r>
              <a:rPr lang="en-GB" dirty="0"/>
              <a:t>Things I’m Hoping To Work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CCC1-0C99-4580-D0A4-0E255A130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Building a mini plugin version of the website</a:t>
            </a:r>
          </a:p>
          <a:p>
            <a:r>
              <a:rPr lang="en-US" dirty="0"/>
              <a:t>Introducing a more advanced check that significantly strengthens the system, such as form action–domain mismatch detection.</a:t>
            </a:r>
          </a:p>
          <a:p>
            <a:r>
              <a:rPr lang="en-GB" dirty="0"/>
              <a:t>Designing a small feature that outputs the specific URL checks that the AI model found the URL didn’t pass.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6749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0D02-2FCC-6DB1-DBF7-68BD9815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2253908" cy="1077229"/>
          </a:xfrm>
        </p:spPr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7DB0-13BF-EEB5-B196-8960FB19C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Roughly 5 participants</a:t>
            </a:r>
          </a:p>
          <a:p>
            <a:r>
              <a:rPr lang="en-GB" dirty="0"/>
              <a:t>Consent forms will be signed to start the evaluation</a:t>
            </a:r>
          </a:p>
          <a:p>
            <a:r>
              <a:rPr lang="en-GB" dirty="0"/>
              <a:t>A timer will be started as participants will have up to 5 minutes to navigate the website and gain feedback on the URL they pasted</a:t>
            </a:r>
          </a:p>
          <a:p>
            <a:r>
              <a:rPr lang="en-GB" dirty="0"/>
              <a:t>Once the participant is satisfied with exploring the system or the timer has ended, a questionnaire will be handed to them</a:t>
            </a:r>
          </a:p>
          <a:p>
            <a:r>
              <a:rPr lang="en-GB" dirty="0"/>
              <a:t>Their responses to the questionnaire will be used to see if the participant understood feedback, if they felt the website was lacking any information/features and if they are confident in the systems 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285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153</TotalTime>
  <Words>897</Words>
  <Application>Microsoft Office PowerPoint</Application>
  <PresentationFormat>Widescreen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MS Shell Dlg 2</vt:lpstr>
      <vt:lpstr>Wingdings</vt:lpstr>
      <vt:lpstr>Wingdings 3</vt:lpstr>
      <vt:lpstr>Madison</vt:lpstr>
      <vt:lpstr>Combining Artificial Intelligence and Cybersecurity to create a smart way to combat phishing threats</vt:lpstr>
      <vt:lpstr>Aim of the Project</vt:lpstr>
      <vt:lpstr>Problems to Solve</vt:lpstr>
      <vt:lpstr>Objectives</vt:lpstr>
      <vt:lpstr>Objectives</vt:lpstr>
      <vt:lpstr>Approach and Organisation</vt:lpstr>
      <vt:lpstr>Approach and Organisation</vt:lpstr>
      <vt:lpstr>Design of Algorithm</vt:lpstr>
      <vt:lpstr>Implementation</vt:lpstr>
      <vt:lpstr>Video of Testing</vt:lpstr>
      <vt:lpstr>Things I Have Completed</vt:lpstr>
      <vt:lpstr>Testing</vt:lpstr>
      <vt:lpstr>What I’m Currently Working On</vt:lpstr>
      <vt:lpstr>Things I’m Hoping To Work On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Meraj Hoque (Student)</dc:creator>
  <cp:lastModifiedBy>Meraj Hoque (Student)</cp:lastModifiedBy>
  <cp:revision>6</cp:revision>
  <dcterms:created xsi:type="dcterms:W3CDTF">2026-01-26T10:31:34Z</dcterms:created>
  <dcterms:modified xsi:type="dcterms:W3CDTF">2026-02-05T18:19:34Z</dcterms:modified>
</cp:coreProperties>
</file>